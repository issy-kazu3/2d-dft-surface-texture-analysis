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10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2018/3/12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95536" y="306100"/>
            <a:ext cx="4791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2</a:t>
            </a:r>
            <a:r>
              <a:rPr lang="ja-JP" altLang="en-US" sz="2800" dirty="0" smtClean="0"/>
              <a:t>次元フーリエ変換　処理ソフト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95536" y="980728"/>
            <a:ext cx="6764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対象ファイル：キーエンス </a:t>
            </a:r>
            <a:r>
              <a:rPr kumimoji="1" lang="en-US" altLang="ja-JP" dirty="0" smtClean="0"/>
              <a:t>VR-300</a:t>
            </a:r>
            <a:r>
              <a:rPr kumimoji="1" lang="ja-JP" altLang="en-US" dirty="0" err="1" smtClean="0"/>
              <a:t>での</a:t>
            </a:r>
            <a:r>
              <a:rPr kumimoji="1" lang="ja-JP" altLang="en-US" dirty="0" smtClean="0"/>
              <a:t>計測ファイル</a:t>
            </a:r>
            <a:r>
              <a:rPr kumimoji="1" lang="en-US" altLang="ja-JP" dirty="0" smtClean="0"/>
              <a:t>CSV</a:t>
            </a:r>
          </a:p>
          <a:p>
            <a:r>
              <a:rPr lang="ja-JP" altLang="en-US" dirty="0"/>
              <a:t>　</a:t>
            </a:r>
            <a:r>
              <a:rPr lang="ja-JP" altLang="en-US" dirty="0" smtClean="0"/>
              <a:t>　　　　　　　　</a:t>
            </a:r>
            <a:r>
              <a:rPr kumimoji="1" lang="en-US" altLang="ja-JP" dirty="0" smtClean="0"/>
              <a:t> </a:t>
            </a:r>
            <a:r>
              <a:rPr kumimoji="1" lang="ja-JP" altLang="en-US" dirty="0" smtClean="0"/>
              <a:t>およびエクセルで編集した</a:t>
            </a:r>
            <a:r>
              <a:rPr lang="ja-JP" altLang="en-US" dirty="0" smtClean="0"/>
              <a:t>同セル構成の上記ファイル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020272" y="383044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2018/3/12 </a:t>
            </a:r>
            <a:r>
              <a:rPr kumimoji="1" lang="ja-JP" altLang="en-US" dirty="0" smtClean="0"/>
              <a:t>石塚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4860" y="170080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計算の流れ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968662" y="2492896"/>
            <a:ext cx="8451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開く</a:t>
            </a:r>
            <a:r>
              <a:rPr lang="en-US" altLang="ja-JP" dirty="0" smtClean="0"/>
              <a:t>(O)</a:t>
            </a:r>
            <a:endParaRPr kumimoji="1" lang="ja-JP" altLang="en-US" dirty="0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1400710" y="2862228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968662" y="3186699"/>
            <a:ext cx="172675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データ</a:t>
            </a:r>
            <a:r>
              <a:rPr lang="ja-JP" altLang="en-US" dirty="0"/>
              <a:t>読み込み</a:t>
            </a:r>
            <a:endParaRPr kumimoji="1" lang="ja-JP" altLang="en-US" dirty="0"/>
          </a:p>
        </p:txBody>
      </p:sp>
      <p:cxnSp>
        <p:nvCxnSpPr>
          <p:cNvPr id="13" name="直線矢印コネクタ 12"/>
          <p:cNvCxnSpPr/>
          <p:nvPr/>
        </p:nvCxnSpPr>
        <p:spPr>
          <a:xfrm>
            <a:off x="1400710" y="3556031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970099" y="3906779"/>
            <a:ext cx="240322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/>
              <a:t>面の傾き除去</a:t>
            </a:r>
            <a:endParaRPr kumimoji="1" lang="en-US" altLang="ja-JP" dirty="0" smtClean="0"/>
          </a:p>
          <a:p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最小二乗法平面近似</a:t>
            </a:r>
            <a:r>
              <a:rPr kumimoji="1" lang="en-US" altLang="ja-JP" dirty="0" smtClean="0"/>
              <a:t>)</a:t>
            </a:r>
          </a:p>
          <a:p>
            <a:r>
              <a:rPr lang="en-US" altLang="ja-JP" dirty="0" smtClean="0"/>
              <a:t>(1024x768</a:t>
            </a:r>
            <a:r>
              <a:rPr lang="ja-JP" altLang="en-US" dirty="0" smtClean="0"/>
              <a:t>で実施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cxnSp>
        <p:nvCxnSpPr>
          <p:cNvPr id="15" name="直線矢印コネクタ 14"/>
          <p:cNvCxnSpPr/>
          <p:nvPr/>
        </p:nvCxnSpPr>
        <p:spPr>
          <a:xfrm>
            <a:off x="1400710" y="4830109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970099" y="5182598"/>
            <a:ext cx="22076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データ格納</a:t>
            </a:r>
            <a:r>
              <a:rPr kumimoji="1" lang="en-US" altLang="ja-JP" dirty="0" smtClean="0"/>
              <a:t>(512x512)</a:t>
            </a:r>
            <a:endParaRPr kumimoji="1" lang="ja-JP" altLang="en-US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896654" y="6167045"/>
            <a:ext cx="2206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この状態で、解析</a:t>
            </a:r>
            <a:endParaRPr kumimoji="1" lang="en-US" altLang="ja-JP" dirty="0" smtClean="0"/>
          </a:p>
          <a:p>
            <a:r>
              <a:rPr lang="ja-JP" altLang="en-US" dirty="0"/>
              <a:t>メニュー</a:t>
            </a:r>
            <a:r>
              <a:rPr lang="ja-JP" altLang="en-US" dirty="0" smtClean="0"/>
              <a:t>のスタンバイ</a:t>
            </a:r>
            <a:endParaRPr kumimoji="1" lang="ja-JP" altLang="en-US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-7887" y="2041657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MENU-&gt;</a:t>
            </a:r>
            <a:endParaRPr kumimoji="1" lang="ja-JP" altLang="en-US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899592" y="1988840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ファイル</a:t>
            </a:r>
            <a:r>
              <a:rPr lang="en-US" altLang="ja-JP" dirty="0"/>
              <a:t>(F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996192" y="5867980"/>
            <a:ext cx="274947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負荷曲線</a:t>
            </a:r>
            <a:r>
              <a:rPr lang="en-US" altLang="ja-JP" dirty="0" smtClean="0"/>
              <a:t>,</a:t>
            </a:r>
            <a:r>
              <a:rPr lang="ja-JP" altLang="en-US" dirty="0" smtClean="0"/>
              <a:t>粗さﾊﾟﾗﾒｰﾀ算出</a:t>
            </a:r>
            <a:endParaRPr kumimoji="1" lang="ja-JP" altLang="en-US" dirty="0"/>
          </a:p>
        </p:txBody>
      </p:sp>
      <p:cxnSp>
        <p:nvCxnSpPr>
          <p:cNvPr id="38" name="直線矢印コネクタ 37"/>
          <p:cNvCxnSpPr/>
          <p:nvPr/>
        </p:nvCxnSpPr>
        <p:spPr>
          <a:xfrm>
            <a:off x="1403648" y="5526524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角丸四角形 1"/>
          <p:cNvSpPr/>
          <p:nvPr/>
        </p:nvSpPr>
        <p:spPr>
          <a:xfrm>
            <a:off x="2157230" y="5151240"/>
            <a:ext cx="1152128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2695417" y="3212976"/>
            <a:ext cx="1860295" cy="16171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4555712" y="4528429"/>
            <a:ext cx="36471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対象ファイルの特徴を判断してﾃﾞｰﾀを読む</a:t>
            </a:r>
            <a:endParaRPr kumimoji="1" lang="en-US" altLang="ja-JP" sz="1400" dirty="0" smtClean="0"/>
          </a:p>
          <a:p>
            <a:r>
              <a:rPr lang="ja-JP" altLang="en-US" sz="1400" dirty="0"/>
              <a:t>ここ</a:t>
            </a:r>
            <a:r>
              <a:rPr lang="ja-JP" altLang="en-US" sz="1400" dirty="0" smtClean="0"/>
              <a:t>の部分の場合わけを追加すれば種々の</a:t>
            </a:r>
            <a:endParaRPr lang="en-US" altLang="ja-JP" sz="1400" dirty="0" smtClean="0"/>
          </a:p>
          <a:p>
            <a:r>
              <a:rPr kumimoji="1" lang="en-US" altLang="ja-JP" sz="1400" dirty="0" smtClean="0"/>
              <a:t>2</a:t>
            </a:r>
            <a:r>
              <a:rPr kumimoji="1" lang="ja-JP" altLang="en-US" sz="1400" dirty="0" smtClean="0"/>
              <a:t>次元信号を解析できる</a:t>
            </a:r>
            <a:r>
              <a:rPr kumimoji="1" lang="en-US" altLang="ja-JP" sz="1400" dirty="0" smtClean="0"/>
              <a:t>(AFM,</a:t>
            </a:r>
            <a:r>
              <a:rPr kumimoji="1" lang="ja-JP" altLang="en-US" sz="1400" dirty="0" smtClean="0"/>
              <a:t>他の粗さ計など</a:t>
            </a:r>
            <a:r>
              <a:rPr kumimoji="1" lang="en-US" altLang="ja-JP" sz="1400" dirty="0" smtClean="0"/>
              <a:t>)</a:t>
            </a:r>
          </a:p>
          <a:p>
            <a:r>
              <a:rPr lang="en-US" altLang="ja-JP" sz="1400" dirty="0" smtClean="0"/>
              <a:t>※</a:t>
            </a:r>
            <a:r>
              <a:rPr lang="en-US" altLang="ja-JP" sz="1400" dirty="0" err="1" smtClean="0"/>
              <a:t>COls_CalcDoc</a:t>
            </a:r>
            <a:r>
              <a:rPr lang="en-US" altLang="ja-JP" sz="1400" dirty="0" smtClean="0"/>
              <a:t>::Serialize()</a:t>
            </a:r>
            <a:r>
              <a:rPr lang="ja-JP" altLang="en-US" sz="1400" dirty="0" smtClean="0"/>
              <a:t>関数内</a:t>
            </a:r>
            <a:endParaRPr kumimoji="1" lang="ja-JP" altLang="en-US" sz="1400" dirty="0"/>
          </a:p>
        </p:txBody>
      </p:sp>
      <p:cxnSp>
        <p:nvCxnSpPr>
          <p:cNvPr id="39" name="直線矢印コネクタ 38"/>
          <p:cNvCxnSpPr/>
          <p:nvPr/>
        </p:nvCxnSpPr>
        <p:spPr>
          <a:xfrm>
            <a:off x="3246048" y="5211569"/>
            <a:ext cx="1253944" cy="8410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テキスト ボックス 39"/>
          <p:cNvSpPr txBox="1"/>
          <p:nvPr/>
        </p:nvSpPr>
        <p:spPr>
          <a:xfrm>
            <a:off x="4491592" y="5848526"/>
            <a:ext cx="37753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X,Y</a:t>
            </a:r>
            <a:r>
              <a:rPr kumimoji="1" lang="ja-JP" altLang="en-US" sz="1400" dirty="0" smtClean="0"/>
              <a:t>を包含できる最大の２のべき乗を求めて</a:t>
            </a:r>
            <a:endParaRPr kumimoji="1" lang="en-US" altLang="ja-JP" sz="1400" dirty="0" smtClean="0"/>
          </a:p>
          <a:p>
            <a:r>
              <a:rPr lang="ja-JP" altLang="en-US" sz="1400" dirty="0"/>
              <a:t>サイズ</a:t>
            </a:r>
            <a:r>
              <a:rPr lang="ja-JP" altLang="en-US" sz="1400" dirty="0" smtClean="0"/>
              <a:t>を調整している。</a:t>
            </a:r>
            <a:endParaRPr lang="en-US" altLang="ja-JP" sz="1400" dirty="0" smtClean="0"/>
          </a:p>
          <a:p>
            <a:r>
              <a:rPr kumimoji="1" lang="en-US" altLang="ja-JP" sz="1400" dirty="0" smtClean="0"/>
              <a:t>※</a:t>
            </a:r>
            <a:r>
              <a:rPr kumimoji="1" lang="ja-JP" altLang="en-US" sz="1400" dirty="0" smtClean="0"/>
              <a:t>今回は、</a:t>
            </a:r>
            <a:r>
              <a:rPr kumimoji="1" lang="en-US" altLang="ja-JP" sz="1400" dirty="0" smtClean="0"/>
              <a:t>1024</a:t>
            </a:r>
            <a:r>
              <a:rPr kumimoji="1" lang="ja-JP" altLang="en-US" sz="1400" dirty="0" smtClean="0"/>
              <a:t>と</a:t>
            </a:r>
            <a:r>
              <a:rPr kumimoji="1" lang="en-US" altLang="ja-JP" sz="1400" dirty="0" smtClean="0"/>
              <a:t>768</a:t>
            </a:r>
            <a:r>
              <a:rPr kumimoji="1" lang="ja-JP" altLang="en-US" sz="1400" dirty="0" smtClean="0"/>
              <a:t>なので、</a:t>
            </a:r>
            <a:r>
              <a:rPr kumimoji="1" lang="en-US" altLang="ja-JP" sz="1400" dirty="0" smtClean="0"/>
              <a:t>2^9=512</a:t>
            </a:r>
            <a:r>
              <a:rPr kumimoji="1" lang="ja-JP" altLang="en-US" sz="1400" dirty="0" smtClean="0"/>
              <a:t>が最大値</a:t>
            </a:r>
            <a:endParaRPr kumimoji="1" lang="ja-JP" altLang="en-US" sz="1400" dirty="0"/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171400"/>
            <a:ext cx="4637735" cy="2357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294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95536" y="306100"/>
            <a:ext cx="4791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>
                <a:solidFill>
                  <a:prstClr val="black"/>
                </a:solidFill>
              </a:rPr>
              <a:t>2</a:t>
            </a:r>
            <a:r>
              <a:rPr lang="ja-JP" altLang="en-US" sz="2800" dirty="0" smtClean="0">
                <a:solidFill>
                  <a:prstClr val="black"/>
                </a:solidFill>
              </a:rPr>
              <a:t>次元フーリエ変換　処理ソフト</a:t>
            </a:r>
            <a:endParaRPr lang="ja-JP" altLang="en-US" sz="2800" dirty="0">
              <a:solidFill>
                <a:prstClr val="black"/>
              </a:solidFill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95536" y="980728"/>
            <a:ext cx="6764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対象ファイル：キーエンス </a:t>
            </a:r>
            <a:r>
              <a:rPr lang="en-US" altLang="ja-JP" dirty="0" smtClean="0">
                <a:solidFill>
                  <a:prstClr val="black"/>
                </a:solidFill>
              </a:rPr>
              <a:t>VR-300</a:t>
            </a:r>
            <a:r>
              <a:rPr lang="ja-JP" altLang="en-US" dirty="0" err="1" smtClean="0">
                <a:solidFill>
                  <a:prstClr val="black"/>
                </a:solidFill>
              </a:rPr>
              <a:t>での</a:t>
            </a:r>
            <a:r>
              <a:rPr lang="ja-JP" altLang="en-US" dirty="0" smtClean="0">
                <a:solidFill>
                  <a:prstClr val="black"/>
                </a:solidFill>
              </a:rPr>
              <a:t>計測ファイル</a:t>
            </a:r>
            <a:r>
              <a:rPr lang="en-US" altLang="ja-JP" dirty="0" smtClean="0">
                <a:solidFill>
                  <a:prstClr val="black"/>
                </a:solidFill>
              </a:rPr>
              <a:t>CSV</a:t>
            </a:r>
          </a:p>
          <a:p>
            <a:r>
              <a:rPr lang="ja-JP" altLang="en-US" dirty="0">
                <a:solidFill>
                  <a:prstClr val="black"/>
                </a:solidFill>
              </a:rPr>
              <a:t>　</a:t>
            </a:r>
            <a:r>
              <a:rPr lang="ja-JP" altLang="en-US" dirty="0" smtClean="0">
                <a:solidFill>
                  <a:prstClr val="black"/>
                </a:solidFill>
              </a:rPr>
              <a:t>　　　　　　　　</a:t>
            </a:r>
            <a:r>
              <a:rPr lang="en-US" altLang="ja-JP" dirty="0" smtClean="0">
                <a:solidFill>
                  <a:prstClr val="black"/>
                </a:solidFill>
              </a:rPr>
              <a:t> </a:t>
            </a:r>
            <a:r>
              <a:rPr lang="ja-JP" altLang="en-US" dirty="0" smtClean="0">
                <a:solidFill>
                  <a:prstClr val="black"/>
                </a:solidFill>
              </a:rPr>
              <a:t>およびエクセルで編集した同セル構成の上記ファイル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020272" y="383044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solidFill>
                  <a:prstClr val="black"/>
                </a:solidFill>
              </a:rPr>
              <a:t>2018/3/12 </a:t>
            </a:r>
            <a:r>
              <a:rPr lang="ja-JP" altLang="en-US" dirty="0" smtClean="0">
                <a:solidFill>
                  <a:prstClr val="black"/>
                </a:solidFill>
              </a:rPr>
              <a:t>石塚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4860" y="170080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計算の流れ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718701" y="2512995"/>
            <a:ext cx="17979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計測</a:t>
            </a:r>
            <a:r>
              <a:rPr lang="en-US" altLang="ja-JP" dirty="0" smtClean="0">
                <a:solidFill>
                  <a:prstClr val="black"/>
                </a:solidFill>
              </a:rPr>
              <a:t>DATA</a:t>
            </a:r>
            <a:r>
              <a:rPr lang="ja-JP" altLang="en-US" dirty="0" smtClean="0">
                <a:solidFill>
                  <a:prstClr val="black"/>
                </a:solidFill>
              </a:rPr>
              <a:t>のｺﾋﾟｰ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92950" y="3223783"/>
            <a:ext cx="185018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高さ情報</a:t>
            </a:r>
            <a:r>
              <a:rPr lang="en-US" altLang="ja-JP" dirty="0" smtClean="0">
                <a:solidFill>
                  <a:prstClr val="black"/>
                </a:solidFill>
              </a:rPr>
              <a:t>2x2=4</a:t>
            </a:r>
            <a:r>
              <a:rPr lang="ja-JP" altLang="en-US" dirty="0" smtClean="0">
                <a:solidFill>
                  <a:prstClr val="black"/>
                </a:solidFill>
              </a:rPr>
              <a:t>点</a:t>
            </a:r>
            <a:endParaRPr lang="en-US" altLang="ja-JP" dirty="0" smtClean="0">
              <a:solidFill>
                <a:prstClr val="black"/>
              </a:solidFill>
            </a:endParaRPr>
          </a:p>
          <a:p>
            <a:r>
              <a:rPr lang="ja-JP" altLang="en-US" dirty="0" smtClean="0">
                <a:solidFill>
                  <a:prstClr val="black"/>
                </a:solidFill>
              </a:rPr>
              <a:t>の平均値算出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41921" y="4170920"/>
            <a:ext cx="189827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</a:rPr>
              <a:t>結果</a:t>
            </a:r>
            <a:r>
              <a:rPr lang="ja-JP" altLang="en-US" dirty="0" smtClean="0">
                <a:solidFill>
                  <a:prstClr val="black"/>
                </a:solidFill>
              </a:rPr>
              <a:t>をｸﾘｯﾌﾟﾎﾞｰﾄﾞ</a:t>
            </a:r>
            <a:endParaRPr lang="en-US" altLang="ja-JP" dirty="0" smtClean="0">
              <a:solidFill>
                <a:prstClr val="black"/>
              </a:solidFill>
            </a:endParaRPr>
          </a:p>
          <a:p>
            <a:r>
              <a:rPr lang="ja-JP" altLang="en-US" dirty="0" smtClean="0">
                <a:solidFill>
                  <a:prstClr val="black"/>
                </a:solidFill>
              </a:rPr>
              <a:t>に出力</a:t>
            </a:r>
            <a:endParaRPr lang="ja-JP" altLang="en-US" dirty="0">
              <a:solidFill>
                <a:prstClr val="black"/>
              </a:solidFill>
            </a:endParaRPr>
          </a:p>
        </p:txBody>
      </p:sp>
      <p:cxnSp>
        <p:nvCxnSpPr>
          <p:cNvPr id="29" name="直線矢印コネクタ 28"/>
          <p:cNvCxnSpPr/>
          <p:nvPr/>
        </p:nvCxnSpPr>
        <p:spPr>
          <a:xfrm>
            <a:off x="938744" y="2882327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/>
          <p:cNvCxnSpPr/>
          <p:nvPr/>
        </p:nvCxnSpPr>
        <p:spPr>
          <a:xfrm>
            <a:off x="932845" y="3818431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541059" y="4889259"/>
            <a:ext cx="1927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 smtClean="0">
                <a:solidFill>
                  <a:prstClr val="black"/>
                </a:solidFill>
              </a:rPr>
              <a:t>※</a:t>
            </a:r>
            <a:r>
              <a:rPr lang="ja-JP" altLang="en-US" sz="1100" dirty="0" smtClean="0">
                <a:solidFill>
                  <a:prstClr val="black"/>
                </a:solidFill>
              </a:rPr>
              <a:t>エクセルで表示できる</a:t>
            </a:r>
            <a:endParaRPr lang="en-US" altLang="ja-JP" sz="1100" dirty="0" smtClean="0">
              <a:solidFill>
                <a:prstClr val="black"/>
              </a:solidFill>
            </a:endParaRPr>
          </a:p>
          <a:p>
            <a:r>
              <a:rPr lang="en-US" altLang="ja-JP" sz="1100" dirty="0" smtClean="0">
                <a:solidFill>
                  <a:prstClr val="black"/>
                </a:solidFill>
              </a:rPr>
              <a:t>3D</a:t>
            </a:r>
            <a:r>
              <a:rPr lang="ja-JP" altLang="en-US" sz="1100" dirty="0" smtClean="0">
                <a:solidFill>
                  <a:prstClr val="black"/>
                </a:solidFill>
              </a:rPr>
              <a:t>ｸﾞﾗﾌのサイズが</a:t>
            </a:r>
            <a:r>
              <a:rPr lang="en-US" altLang="ja-JP" sz="1100" dirty="0" smtClean="0">
                <a:solidFill>
                  <a:prstClr val="black"/>
                </a:solidFill>
              </a:rPr>
              <a:t>255x255</a:t>
            </a:r>
          </a:p>
          <a:p>
            <a:r>
              <a:rPr lang="ja-JP" altLang="en-US" sz="1100" dirty="0">
                <a:solidFill>
                  <a:prstClr val="black"/>
                </a:solidFill>
              </a:rPr>
              <a:t>なの</a:t>
            </a:r>
            <a:r>
              <a:rPr lang="ja-JP" altLang="en-US" sz="1100" dirty="0" smtClean="0">
                <a:solidFill>
                  <a:prstClr val="black"/>
                </a:solidFill>
              </a:rPr>
              <a:t>で、</a:t>
            </a:r>
            <a:r>
              <a:rPr lang="en-US" altLang="ja-JP" sz="1100" dirty="0" smtClean="0">
                <a:solidFill>
                  <a:prstClr val="black"/>
                </a:solidFill>
              </a:rPr>
              <a:t>4</a:t>
            </a:r>
            <a:r>
              <a:rPr lang="ja-JP" altLang="en-US" sz="1100" dirty="0" smtClean="0">
                <a:solidFill>
                  <a:prstClr val="black"/>
                </a:solidFill>
              </a:rPr>
              <a:t>点の平均を算出</a:t>
            </a:r>
            <a:endParaRPr lang="en-US" altLang="ja-JP" sz="1100" dirty="0" smtClean="0">
              <a:solidFill>
                <a:prstClr val="black"/>
              </a:solidFill>
            </a:endParaRPr>
          </a:p>
          <a:p>
            <a:r>
              <a:rPr lang="en-US" altLang="ja-JP" sz="1100" dirty="0" smtClean="0">
                <a:solidFill>
                  <a:prstClr val="black"/>
                </a:solidFill>
              </a:rPr>
              <a:t>512x512</a:t>
            </a:r>
            <a:r>
              <a:rPr lang="ja-JP" altLang="en-US" sz="1100" dirty="0" smtClean="0">
                <a:solidFill>
                  <a:prstClr val="black"/>
                </a:solidFill>
              </a:rPr>
              <a:t>を</a:t>
            </a:r>
            <a:r>
              <a:rPr lang="en-US" altLang="ja-JP" sz="1100" dirty="0" smtClean="0">
                <a:solidFill>
                  <a:prstClr val="black"/>
                </a:solidFill>
              </a:rPr>
              <a:t>1/4</a:t>
            </a:r>
            <a:r>
              <a:rPr lang="ja-JP" altLang="en-US" sz="1100" dirty="0" smtClean="0">
                <a:solidFill>
                  <a:prstClr val="black"/>
                </a:solidFill>
              </a:rPr>
              <a:t>に間引いている</a:t>
            </a:r>
            <a:endParaRPr lang="ja-JP" altLang="en-US" sz="1100" dirty="0">
              <a:solidFill>
                <a:prstClr val="black"/>
              </a:solidFill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395536" y="20856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解析</a:t>
            </a:r>
            <a:endParaRPr lang="ja-JP" altLang="en-US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096" y="2444183"/>
            <a:ext cx="5268903" cy="2723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角丸四角形 1"/>
          <p:cNvSpPr/>
          <p:nvPr/>
        </p:nvSpPr>
        <p:spPr>
          <a:xfrm>
            <a:off x="4932040" y="2817504"/>
            <a:ext cx="720080" cy="17537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2543136" y="3806125"/>
            <a:ext cx="1011960" cy="22151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635896" y="5658700"/>
            <a:ext cx="44598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X</a:t>
            </a:r>
            <a:r>
              <a:rPr kumimoji="1" lang="ja-JP" altLang="en-US" sz="1400" dirty="0" smtClean="0"/>
              <a:t>データサイズ</a:t>
            </a:r>
            <a:r>
              <a:rPr kumimoji="1" lang="en-US" altLang="ja-JP" sz="1400" dirty="0" smtClean="0"/>
              <a:t>(512)÷256=2</a:t>
            </a:r>
          </a:p>
          <a:p>
            <a:r>
              <a:rPr lang="en-US" altLang="ja-JP" sz="1400" dirty="0" smtClean="0"/>
              <a:t>Y</a:t>
            </a:r>
            <a:r>
              <a:rPr lang="ja-JP" altLang="en-US" sz="1400" dirty="0" smtClean="0"/>
              <a:t>ﾃﾞｰﾀサイズ</a:t>
            </a:r>
            <a:r>
              <a:rPr lang="en-US" altLang="ja-JP" sz="1400" dirty="0" smtClean="0"/>
              <a:t>(512)÷256=2</a:t>
            </a:r>
          </a:p>
          <a:p>
            <a:r>
              <a:rPr kumimoji="1" lang="ja-JP" altLang="en-US" sz="1400" dirty="0" smtClean="0"/>
              <a:t>→</a:t>
            </a:r>
            <a:r>
              <a:rPr kumimoji="1" lang="en-US" altLang="ja-JP" sz="1400" dirty="0" smtClean="0"/>
              <a:t>2x2=4</a:t>
            </a:r>
            <a:r>
              <a:rPr kumimoji="1" lang="ja-JP" altLang="en-US" sz="1400" dirty="0" smtClean="0"/>
              <a:t>点の平均を算出　　間引きはデータサイズに依存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734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95536" y="306100"/>
            <a:ext cx="4791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>
                <a:solidFill>
                  <a:prstClr val="black"/>
                </a:solidFill>
              </a:rPr>
              <a:t>2</a:t>
            </a:r>
            <a:r>
              <a:rPr lang="ja-JP" altLang="en-US" sz="2800" dirty="0" smtClean="0">
                <a:solidFill>
                  <a:prstClr val="black"/>
                </a:solidFill>
              </a:rPr>
              <a:t>次元フーリエ変換　処理ソフト</a:t>
            </a:r>
            <a:endParaRPr lang="ja-JP" altLang="en-US" sz="2800" dirty="0">
              <a:solidFill>
                <a:prstClr val="black"/>
              </a:solidFill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95536" y="980728"/>
            <a:ext cx="6764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対象ファイル：キーエンス </a:t>
            </a:r>
            <a:r>
              <a:rPr lang="en-US" altLang="ja-JP" dirty="0" smtClean="0">
                <a:solidFill>
                  <a:prstClr val="black"/>
                </a:solidFill>
              </a:rPr>
              <a:t>VR-300</a:t>
            </a:r>
            <a:r>
              <a:rPr lang="ja-JP" altLang="en-US" dirty="0" err="1" smtClean="0">
                <a:solidFill>
                  <a:prstClr val="black"/>
                </a:solidFill>
              </a:rPr>
              <a:t>での</a:t>
            </a:r>
            <a:r>
              <a:rPr lang="ja-JP" altLang="en-US" dirty="0" smtClean="0">
                <a:solidFill>
                  <a:prstClr val="black"/>
                </a:solidFill>
              </a:rPr>
              <a:t>計測ファイル</a:t>
            </a:r>
            <a:r>
              <a:rPr lang="en-US" altLang="ja-JP" dirty="0" smtClean="0">
                <a:solidFill>
                  <a:prstClr val="black"/>
                </a:solidFill>
              </a:rPr>
              <a:t>CSV</a:t>
            </a:r>
          </a:p>
          <a:p>
            <a:r>
              <a:rPr lang="ja-JP" altLang="en-US" dirty="0">
                <a:solidFill>
                  <a:prstClr val="black"/>
                </a:solidFill>
              </a:rPr>
              <a:t>　</a:t>
            </a:r>
            <a:r>
              <a:rPr lang="ja-JP" altLang="en-US" dirty="0" smtClean="0">
                <a:solidFill>
                  <a:prstClr val="black"/>
                </a:solidFill>
              </a:rPr>
              <a:t>　　　　　　　　</a:t>
            </a:r>
            <a:r>
              <a:rPr lang="en-US" altLang="ja-JP" dirty="0" smtClean="0">
                <a:solidFill>
                  <a:prstClr val="black"/>
                </a:solidFill>
              </a:rPr>
              <a:t> </a:t>
            </a:r>
            <a:r>
              <a:rPr lang="ja-JP" altLang="en-US" dirty="0" smtClean="0">
                <a:solidFill>
                  <a:prstClr val="black"/>
                </a:solidFill>
              </a:rPr>
              <a:t>およびエクセルで編集した同セル構成の上記ファイル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020272" y="383044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solidFill>
                  <a:prstClr val="black"/>
                </a:solidFill>
              </a:rPr>
              <a:t>2018/3/12 </a:t>
            </a:r>
            <a:r>
              <a:rPr lang="ja-JP" altLang="en-US" dirty="0" smtClean="0">
                <a:solidFill>
                  <a:prstClr val="black"/>
                </a:solidFill>
              </a:rPr>
              <a:t>石塚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4860" y="170080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計算の流れ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03485" y="2492896"/>
            <a:ext cx="212429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フーリエ係数の算出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77734" y="3203684"/>
            <a:ext cx="132760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solidFill>
                  <a:prstClr val="black"/>
                </a:solidFill>
              </a:rPr>
              <a:t>X</a:t>
            </a:r>
            <a:r>
              <a:rPr lang="ja-JP" altLang="en-US" dirty="0" smtClean="0">
                <a:solidFill>
                  <a:prstClr val="black"/>
                </a:solidFill>
              </a:rPr>
              <a:t>方向</a:t>
            </a:r>
            <a:r>
              <a:rPr lang="en-US" altLang="ja-JP" dirty="0" smtClean="0">
                <a:solidFill>
                  <a:prstClr val="black"/>
                </a:solidFill>
              </a:rPr>
              <a:t>DFT</a:t>
            </a:r>
          </a:p>
          <a:p>
            <a:r>
              <a:rPr lang="ja-JP" altLang="en-US" dirty="0" smtClean="0">
                <a:solidFill>
                  <a:prstClr val="black"/>
                </a:solidFill>
              </a:rPr>
              <a:t>→</a:t>
            </a:r>
            <a:r>
              <a:rPr lang="en-US" altLang="ja-JP" dirty="0" smtClean="0">
                <a:solidFill>
                  <a:prstClr val="black"/>
                </a:solidFill>
              </a:rPr>
              <a:t>Y</a:t>
            </a:r>
            <a:r>
              <a:rPr lang="ja-JP" altLang="en-US" dirty="0" smtClean="0">
                <a:solidFill>
                  <a:prstClr val="black"/>
                </a:solidFill>
              </a:rPr>
              <a:t>方向</a:t>
            </a:r>
            <a:r>
              <a:rPr lang="en-US" altLang="ja-JP" dirty="0" smtClean="0">
                <a:solidFill>
                  <a:prstClr val="black"/>
                </a:solidFill>
              </a:rPr>
              <a:t>DFT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77734" y="4138849"/>
            <a:ext cx="16385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solidFill>
                  <a:prstClr val="black"/>
                </a:solidFill>
              </a:rPr>
              <a:t>2</a:t>
            </a:r>
            <a:r>
              <a:rPr lang="ja-JP" altLang="en-US" dirty="0" smtClean="0">
                <a:solidFill>
                  <a:prstClr val="black"/>
                </a:solidFill>
              </a:rPr>
              <a:t>次元パワー</a:t>
            </a:r>
            <a:endParaRPr lang="en-US" altLang="ja-JP" dirty="0" smtClean="0">
              <a:solidFill>
                <a:prstClr val="black"/>
              </a:solidFill>
            </a:endParaRPr>
          </a:p>
          <a:p>
            <a:r>
              <a:rPr lang="ja-JP" altLang="en-US" dirty="0" smtClean="0">
                <a:solidFill>
                  <a:prstClr val="black"/>
                </a:solidFill>
              </a:rPr>
              <a:t>スペクトル算出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07725" y="5180857"/>
            <a:ext cx="193033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</a:rPr>
              <a:t>結果</a:t>
            </a:r>
            <a:r>
              <a:rPr lang="ja-JP" altLang="en-US" dirty="0" smtClean="0">
                <a:solidFill>
                  <a:prstClr val="black"/>
                </a:solidFill>
              </a:rPr>
              <a:t>をｸﾘｯﾌﾟﾎﾞｰﾄﾞ</a:t>
            </a:r>
            <a:endParaRPr lang="en-US" altLang="ja-JP" dirty="0" smtClean="0">
              <a:solidFill>
                <a:prstClr val="black"/>
              </a:solidFill>
            </a:endParaRPr>
          </a:p>
          <a:p>
            <a:r>
              <a:rPr lang="ja-JP" altLang="en-US" dirty="0" smtClean="0">
                <a:solidFill>
                  <a:prstClr val="black"/>
                </a:solidFill>
              </a:rPr>
              <a:t>に出力</a:t>
            </a:r>
            <a:r>
              <a:rPr lang="en-US" altLang="ja-JP" dirty="0" smtClean="0">
                <a:solidFill>
                  <a:prstClr val="black"/>
                </a:solidFill>
              </a:rPr>
              <a:t>(128</a:t>
            </a:r>
            <a:r>
              <a:rPr lang="ja-JP" altLang="en-US" dirty="0" smtClean="0">
                <a:solidFill>
                  <a:prstClr val="black"/>
                </a:solidFill>
              </a:rPr>
              <a:t>次まで</a:t>
            </a:r>
            <a:endParaRPr lang="en-US" altLang="ja-JP" dirty="0" smtClean="0">
              <a:solidFill>
                <a:prstClr val="black"/>
              </a:solidFill>
            </a:endParaRPr>
          </a:p>
          <a:p>
            <a:r>
              <a:rPr lang="ja-JP" altLang="en-US" dirty="0" smtClean="0">
                <a:solidFill>
                  <a:prstClr val="black"/>
                </a:solidFill>
              </a:rPr>
              <a:t>を出力</a:t>
            </a:r>
            <a:r>
              <a:rPr lang="en-US" altLang="ja-JP" dirty="0" smtClean="0">
                <a:solidFill>
                  <a:prstClr val="black"/>
                </a:solidFill>
              </a:rPr>
              <a:t>)</a:t>
            </a:r>
            <a:endParaRPr lang="ja-JP" altLang="en-US" dirty="0">
              <a:solidFill>
                <a:prstClr val="black"/>
              </a:solidFill>
            </a:endParaRPr>
          </a:p>
        </p:txBody>
      </p:sp>
      <p:cxnSp>
        <p:nvCxnSpPr>
          <p:cNvPr id="21" name="直線矢印コネクタ 20"/>
          <p:cNvCxnSpPr/>
          <p:nvPr/>
        </p:nvCxnSpPr>
        <p:spPr>
          <a:xfrm>
            <a:off x="723528" y="2862228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>
            <a:off x="717629" y="3798332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>
            <a:off x="719509" y="4806444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287461" y="6093296"/>
            <a:ext cx="1446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 smtClean="0">
                <a:solidFill>
                  <a:prstClr val="black"/>
                </a:solidFill>
              </a:rPr>
              <a:t>※</a:t>
            </a:r>
            <a:r>
              <a:rPr lang="ja-JP" altLang="en-US" sz="1100" dirty="0" smtClean="0">
                <a:solidFill>
                  <a:prstClr val="black"/>
                </a:solidFill>
              </a:rPr>
              <a:t>位相データは</a:t>
            </a:r>
            <a:endParaRPr lang="en-US" altLang="ja-JP" sz="1100" dirty="0" smtClean="0">
              <a:solidFill>
                <a:prstClr val="black"/>
              </a:solidFill>
            </a:endParaRPr>
          </a:p>
          <a:p>
            <a:r>
              <a:rPr lang="ja-JP" altLang="en-US" sz="1100" dirty="0" smtClean="0">
                <a:solidFill>
                  <a:prstClr val="black"/>
                </a:solidFill>
              </a:rPr>
              <a:t>算出するだけで</a:t>
            </a:r>
            <a:endParaRPr lang="en-US" altLang="ja-JP" sz="1100" dirty="0" smtClean="0">
              <a:solidFill>
                <a:prstClr val="black"/>
              </a:solidFill>
            </a:endParaRPr>
          </a:p>
          <a:p>
            <a:r>
              <a:rPr lang="ja-JP" altLang="en-US" sz="1100" dirty="0" smtClean="0">
                <a:solidFill>
                  <a:prstClr val="black"/>
                </a:solidFill>
              </a:rPr>
              <a:t>捨てて</a:t>
            </a:r>
            <a:r>
              <a:rPr lang="ja-JP" altLang="en-US" sz="1100" dirty="0">
                <a:solidFill>
                  <a:prstClr val="black"/>
                </a:solidFill>
              </a:rPr>
              <a:t>しまっています</a:t>
            </a: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395536" y="20856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prstClr val="black"/>
                </a:solidFill>
              </a:rPr>
              <a:t>解析</a:t>
            </a:r>
            <a:endParaRPr lang="ja-JP" altLang="en-US" dirty="0">
              <a:solidFill>
                <a:prstClr val="black"/>
              </a:solidFill>
            </a:endParaRP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569" y="2477820"/>
            <a:ext cx="5268903" cy="2723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角丸四角形 30"/>
          <p:cNvSpPr/>
          <p:nvPr/>
        </p:nvSpPr>
        <p:spPr>
          <a:xfrm>
            <a:off x="4928513" y="2965594"/>
            <a:ext cx="720080" cy="17537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/>
        </p:nvSpPr>
        <p:spPr>
          <a:xfrm>
            <a:off x="395536" y="3053281"/>
            <a:ext cx="2160240" cy="1928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826247" y="3033597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/>
              <a:t>2</a:t>
            </a:r>
            <a:r>
              <a:rPr kumimoji="1" lang="ja-JP" altLang="en-US" sz="1200" dirty="0" smtClean="0"/>
              <a:t>次元</a:t>
            </a:r>
            <a:r>
              <a:rPr kumimoji="1" lang="en-US" altLang="ja-JP" sz="1200" dirty="0" smtClean="0"/>
              <a:t>DFT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356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755576" y="260648"/>
            <a:ext cx="22701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フーリエ係数のまとめ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971436"/>
            <a:ext cx="132760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X</a:t>
            </a:r>
            <a:r>
              <a:rPr kumimoji="1" lang="ja-JP" altLang="en-US" dirty="0" smtClean="0"/>
              <a:t>方向</a:t>
            </a:r>
            <a:r>
              <a:rPr kumimoji="1" lang="en-US" altLang="ja-JP" dirty="0" smtClean="0"/>
              <a:t>DFT</a:t>
            </a:r>
          </a:p>
          <a:p>
            <a:r>
              <a:rPr lang="ja-JP" altLang="en-US" dirty="0" smtClean="0"/>
              <a:t>→</a:t>
            </a:r>
            <a:r>
              <a:rPr lang="en-US" altLang="ja-JP" dirty="0" smtClean="0"/>
              <a:t>Y</a:t>
            </a:r>
            <a:r>
              <a:rPr lang="ja-JP" altLang="en-US" dirty="0" smtClean="0"/>
              <a:t>方向</a:t>
            </a:r>
            <a:r>
              <a:rPr lang="en-US" altLang="ja-JP" dirty="0" smtClean="0"/>
              <a:t>DFT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55576" y="1906601"/>
            <a:ext cx="16385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/>
              <a:t>2</a:t>
            </a:r>
            <a:r>
              <a:rPr kumimoji="1" lang="ja-JP" altLang="en-US" dirty="0" smtClean="0"/>
              <a:t>次元パワー</a:t>
            </a:r>
            <a:endParaRPr kumimoji="1" lang="en-US" altLang="ja-JP" dirty="0" smtClean="0"/>
          </a:p>
          <a:p>
            <a:r>
              <a:rPr kumimoji="1" lang="ja-JP" altLang="en-US" dirty="0" smtClean="0"/>
              <a:t>スペクトル算出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04547" y="5661248"/>
            <a:ext cx="189827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/>
              <a:t>結果</a:t>
            </a:r>
            <a:r>
              <a:rPr lang="ja-JP" altLang="en-US" dirty="0" smtClean="0"/>
              <a:t>をｸﾘｯﾌﾟﾎﾞｰﾄﾞ</a:t>
            </a:r>
            <a:endParaRPr lang="en-US" altLang="ja-JP" dirty="0" smtClean="0"/>
          </a:p>
          <a:p>
            <a:r>
              <a:rPr kumimoji="1" lang="ja-JP" altLang="en-US" dirty="0" smtClean="0"/>
              <a:t>に出力</a:t>
            </a:r>
            <a:endParaRPr kumimoji="1" lang="ja-JP" altLang="en-US" dirty="0"/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1001370" y="629980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>
            <a:off x="995471" y="1566084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>
            <a:off x="997351" y="2574196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755576" y="2944367"/>
            <a:ext cx="16385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半</a:t>
            </a:r>
            <a:r>
              <a:rPr kumimoji="1" lang="ja-JP" altLang="en-US" dirty="0" smtClean="0"/>
              <a:t>径値ごとに</a:t>
            </a:r>
            <a:endParaRPr kumimoji="1" lang="en-US" altLang="ja-JP" dirty="0" smtClean="0"/>
          </a:p>
          <a:p>
            <a:r>
              <a:rPr lang="ja-JP" altLang="en-US" dirty="0" smtClean="0"/>
              <a:t>スペクトル集計</a:t>
            </a:r>
            <a:endParaRPr lang="en-US" altLang="ja-JP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01162" y="3959820"/>
            <a:ext cx="16385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角度値ごとに</a:t>
            </a:r>
            <a:endParaRPr lang="en-US" altLang="ja-JP" dirty="0" smtClean="0"/>
          </a:p>
          <a:p>
            <a:r>
              <a:rPr lang="ja-JP" altLang="en-US" dirty="0" smtClean="0"/>
              <a:t>スペクトル集計</a:t>
            </a:r>
            <a:endParaRPr lang="en-US" altLang="ja-JP" dirty="0" smtClean="0"/>
          </a:p>
        </p:txBody>
      </p:sp>
      <p:cxnSp>
        <p:nvCxnSpPr>
          <p:cNvPr id="14" name="直線矢印コネクタ 13"/>
          <p:cNvCxnSpPr/>
          <p:nvPr/>
        </p:nvCxnSpPr>
        <p:spPr>
          <a:xfrm>
            <a:off x="971600" y="3609072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>
            <a:off x="971600" y="4617184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677831" y="4968146"/>
            <a:ext cx="14830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ピークの同定</a:t>
            </a:r>
            <a:endParaRPr lang="en-US" altLang="ja-JP" dirty="0" smtClean="0"/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971600" y="5310500"/>
            <a:ext cx="0" cy="350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3779912" y="805354"/>
            <a:ext cx="51956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ピークの同定は、</a:t>
            </a:r>
            <a:r>
              <a:rPr lang="en-US" altLang="ja-JP" dirty="0" err="1" smtClean="0"/>
              <a:t>Savitzky</a:t>
            </a:r>
            <a:r>
              <a:rPr lang="en-US" altLang="ja-JP" dirty="0" smtClean="0"/>
              <a:t>–</a:t>
            </a:r>
            <a:r>
              <a:rPr lang="en-US" altLang="ja-JP" dirty="0" err="1" smtClean="0"/>
              <a:t>Golay</a:t>
            </a:r>
            <a:r>
              <a:rPr lang="ja-JP" altLang="en-US" dirty="0" smtClean="0"/>
              <a:t>の平滑化フィルタ</a:t>
            </a:r>
            <a:endParaRPr lang="en-US" altLang="ja-JP" dirty="0" smtClean="0"/>
          </a:p>
          <a:p>
            <a:r>
              <a:rPr lang="ja-JP" altLang="en-US" dirty="0" smtClean="0"/>
              <a:t>（微分係数の移動</a:t>
            </a:r>
            <a:r>
              <a:rPr lang="ja-JP" altLang="en-US" dirty="0" smtClean="0"/>
              <a:t>平均のようなもの）を処理</a:t>
            </a:r>
            <a:r>
              <a:rPr lang="ja-JP" altLang="en-US" dirty="0" smtClean="0"/>
              <a:t>。</a:t>
            </a:r>
            <a:endParaRPr lang="en-US" altLang="ja-JP" dirty="0" smtClean="0"/>
          </a:p>
          <a:p>
            <a:r>
              <a:rPr lang="ja-JP" altLang="en-US" dirty="0"/>
              <a:t>符号から</a:t>
            </a:r>
            <a:r>
              <a:rPr lang="ja-JP" altLang="en-US" dirty="0" smtClean="0"/>
              <a:t>ピーク</a:t>
            </a:r>
            <a:r>
              <a:rPr lang="ja-JP" altLang="en-US" dirty="0" smtClean="0"/>
              <a:t>を特定している。</a:t>
            </a:r>
            <a:r>
              <a:rPr lang="en-US" altLang="ja-JP" dirty="0" smtClean="0"/>
              <a:t>(11</a:t>
            </a:r>
            <a:r>
              <a:rPr lang="ja-JP" altLang="en-US" dirty="0" smtClean="0"/>
              <a:t>点での平滑化</a:t>
            </a:r>
            <a:r>
              <a:rPr lang="en-US" altLang="ja-JP" dirty="0" smtClean="0"/>
              <a:t>)</a:t>
            </a:r>
          </a:p>
          <a:p>
            <a:r>
              <a:rPr lang="ja-JP" altLang="en-US" dirty="0"/>
              <a:t>ピーク</a:t>
            </a:r>
            <a:r>
              <a:rPr lang="ja-JP" altLang="en-US" dirty="0" smtClean="0"/>
              <a:t>の高さは、ピーク近傍の</a:t>
            </a:r>
            <a:r>
              <a:rPr lang="en-US" altLang="ja-JP" dirty="0" smtClean="0"/>
              <a:t>3</a:t>
            </a:r>
            <a:r>
              <a:rPr lang="ja-JP" altLang="en-US" dirty="0" smtClean="0"/>
              <a:t>点の平均値を採用。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11</a:t>
            </a:r>
            <a:r>
              <a:rPr lang="ja-JP" altLang="en-US" dirty="0" smtClean="0"/>
              <a:t>点での平滑化を行うので、</a:t>
            </a:r>
            <a:r>
              <a:rPr lang="en-US" altLang="ja-JP" dirty="0" smtClean="0"/>
              <a:t>5</a:t>
            </a:r>
            <a:r>
              <a:rPr lang="ja-JP" altLang="en-US" dirty="0" smtClean="0"/>
              <a:t>次以下は計算できず</a:t>
            </a:r>
            <a:endParaRPr lang="en-US" altLang="ja-JP" dirty="0" smtClean="0"/>
          </a:p>
          <a:p>
            <a:r>
              <a:rPr kumimoji="1" lang="ja-JP" altLang="en-US" dirty="0" smtClean="0"/>
              <a:t>→</a:t>
            </a:r>
            <a:r>
              <a:rPr lang="ja-JP" altLang="en-US" dirty="0" smtClean="0"/>
              <a:t>～</a:t>
            </a:r>
            <a:r>
              <a:rPr lang="en-US" altLang="ja-JP" dirty="0" smtClean="0"/>
              <a:t>5</a:t>
            </a:r>
            <a:r>
              <a:rPr lang="ja-JP" altLang="en-US" dirty="0" smtClean="0"/>
              <a:t>次は</a:t>
            </a:r>
            <a:r>
              <a:rPr kumimoji="1" lang="ja-JP" altLang="en-US" dirty="0" smtClean="0"/>
              <a:t>生ﾃﾞｰﾀの増減で直に判断。ピークも</a:t>
            </a:r>
            <a:endParaRPr kumimoji="1" lang="en-US" altLang="ja-JP" dirty="0" smtClean="0"/>
          </a:p>
          <a:p>
            <a:r>
              <a:rPr lang="ja-JP" altLang="en-US" dirty="0"/>
              <a:t>　</a:t>
            </a:r>
            <a:r>
              <a:rPr kumimoji="1" lang="ja-JP" altLang="en-US" dirty="0" smtClean="0"/>
              <a:t>３点平均は行わず、生ﾃﾞｰﾀをそのまま読んでいる</a:t>
            </a:r>
            <a:endParaRPr kumimoji="1" lang="ja-JP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179608"/>
            <a:ext cx="374332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線矢印コネクタ 24"/>
          <p:cNvCxnSpPr/>
          <p:nvPr/>
        </p:nvCxnSpPr>
        <p:spPr>
          <a:xfrm flipH="1">
            <a:off x="5939606" y="1916832"/>
            <a:ext cx="936650" cy="1692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 flipH="1">
            <a:off x="5939606" y="1741458"/>
            <a:ext cx="428992" cy="1687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右中かっこ 28"/>
          <p:cNvSpPr/>
          <p:nvPr/>
        </p:nvSpPr>
        <p:spPr>
          <a:xfrm>
            <a:off x="7425911" y="3902910"/>
            <a:ext cx="144016" cy="3600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7596336" y="3882875"/>
            <a:ext cx="119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 smtClean="0"/>
              <a:t>5</a:t>
            </a:r>
            <a:r>
              <a:rPr kumimoji="1" lang="ja-JP" altLang="en-US" sz="1000" dirty="0" smtClean="0"/>
              <a:t>次以下は</a:t>
            </a:r>
            <a:endParaRPr kumimoji="1" lang="en-US" altLang="ja-JP" sz="1000" dirty="0" smtClean="0"/>
          </a:p>
          <a:p>
            <a:r>
              <a:rPr lang="ja-JP" altLang="en-US" sz="1000" dirty="0" smtClean="0"/>
              <a:t>平滑化フィルタ</a:t>
            </a:r>
            <a:r>
              <a:rPr lang="ja-JP" altLang="en-US" sz="1000" dirty="0"/>
              <a:t>なし</a:t>
            </a:r>
            <a:endParaRPr kumimoji="1" lang="ja-JP" altLang="en-US" sz="1000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2051142" y="845557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/>
              <a:t>2</a:t>
            </a:r>
            <a:r>
              <a:rPr kumimoji="1" lang="ja-JP" altLang="en-US" sz="1200" dirty="0" smtClean="0"/>
              <a:t>次元</a:t>
            </a:r>
            <a:r>
              <a:rPr kumimoji="1" lang="en-US" altLang="ja-JP" sz="1200" dirty="0" smtClean="0"/>
              <a:t>DFT</a:t>
            </a:r>
            <a:endParaRPr kumimoji="1" lang="ja-JP" altLang="en-US" sz="1200" dirty="0"/>
          </a:p>
        </p:txBody>
      </p:sp>
      <p:sp>
        <p:nvSpPr>
          <p:cNvPr id="22" name="正方形/長方形 21"/>
          <p:cNvSpPr/>
          <p:nvPr/>
        </p:nvSpPr>
        <p:spPr>
          <a:xfrm>
            <a:off x="677831" y="836712"/>
            <a:ext cx="2160240" cy="1928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4067944" y="5117465"/>
            <a:ext cx="126104" cy="120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/>
        </p:nvSpPr>
        <p:spPr>
          <a:xfrm>
            <a:off x="4470280" y="5350275"/>
            <a:ext cx="126104" cy="120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/>
          <p:cNvSpPr/>
          <p:nvPr/>
        </p:nvSpPr>
        <p:spPr>
          <a:xfrm>
            <a:off x="4860032" y="5698123"/>
            <a:ext cx="126104" cy="120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リーフォーム 18"/>
          <p:cNvSpPr/>
          <p:nvPr/>
        </p:nvSpPr>
        <p:spPr>
          <a:xfrm>
            <a:off x="4145280" y="5165131"/>
            <a:ext cx="792480" cy="585216"/>
          </a:xfrm>
          <a:custGeom>
            <a:avLst/>
            <a:gdLst>
              <a:gd name="connsiteX0" fmla="*/ 0 w 792480"/>
              <a:gd name="connsiteY0" fmla="*/ 0 h 585216"/>
              <a:gd name="connsiteX1" fmla="*/ 402336 w 792480"/>
              <a:gd name="connsiteY1" fmla="*/ 231648 h 585216"/>
              <a:gd name="connsiteX2" fmla="*/ 792480 w 792480"/>
              <a:gd name="connsiteY2" fmla="*/ 585216 h 585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480" h="585216">
                <a:moveTo>
                  <a:pt x="0" y="0"/>
                </a:moveTo>
                <a:lnTo>
                  <a:pt x="402336" y="231648"/>
                </a:lnTo>
                <a:lnTo>
                  <a:pt x="792480" y="58521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/>
          <p:cNvCxnSpPr/>
          <p:nvPr/>
        </p:nvCxnSpPr>
        <p:spPr>
          <a:xfrm>
            <a:off x="3779912" y="4714190"/>
            <a:ext cx="0" cy="1595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 rot="5400000">
            <a:off x="4405708" y="4824802"/>
            <a:ext cx="0" cy="1595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3487934" y="54577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0</a:t>
            </a:r>
            <a:endParaRPr kumimoji="1" lang="ja-JP" altLang="en-US" dirty="0"/>
          </a:p>
        </p:txBody>
      </p:sp>
      <p:sp>
        <p:nvSpPr>
          <p:cNvPr id="2048" name="テキスト ボックス 2047"/>
          <p:cNvSpPr txBox="1"/>
          <p:nvPr/>
        </p:nvSpPr>
        <p:spPr>
          <a:xfrm>
            <a:off x="3113472" y="470300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 smtClean="0"/>
              <a:t>微分係数</a:t>
            </a:r>
            <a:endParaRPr kumimoji="1" lang="ja-JP" altLang="en-US" sz="1100" dirty="0"/>
          </a:p>
        </p:txBody>
      </p:sp>
      <p:sp>
        <p:nvSpPr>
          <p:cNvPr id="2049" name="テキスト ボックス 2048"/>
          <p:cNvSpPr txBox="1"/>
          <p:nvPr/>
        </p:nvSpPr>
        <p:spPr>
          <a:xfrm>
            <a:off x="4986136" y="5471093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dirty="0"/>
              <a:t>次数</a:t>
            </a:r>
            <a:endParaRPr kumimoji="1" lang="ja-JP" altLang="en-US" sz="1100" dirty="0"/>
          </a:p>
        </p:txBody>
      </p:sp>
      <p:sp>
        <p:nvSpPr>
          <p:cNvPr id="2051" name="テキスト ボックス 2050"/>
          <p:cNvSpPr txBox="1"/>
          <p:nvPr/>
        </p:nvSpPr>
        <p:spPr>
          <a:xfrm>
            <a:off x="3923928" y="5589240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smtClean="0"/>
              <a:t>X-2</a:t>
            </a:r>
            <a:endParaRPr kumimoji="1" lang="ja-JP" altLang="en-US" sz="1100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355976" y="5589240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smtClean="0"/>
              <a:t>X-1</a:t>
            </a:r>
            <a:endParaRPr kumimoji="1" lang="ja-JP" altLang="en-US" sz="11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817652" y="5589240"/>
            <a:ext cx="2584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smtClean="0"/>
              <a:t>X</a:t>
            </a:r>
            <a:endParaRPr kumimoji="1" lang="ja-JP" altLang="en-US" sz="1100" dirty="0"/>
          </a:p>
        </p:txBody>
      </p:sp>
      <p:cxnSp>
        <p:nvCxnSpPr>
          <p:cNvPr id="2053" name="直線矢印コネクタ 2052"/>
          <p:cNvCxnSpPr/>
          <p:nvPr/>
        </p:nvCxnSpPr>
        <p:spPr>
          <a:xfrm>
            <a:off x="4764784" y="5214450"/>
            <a:ext cx="0" cy="4240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/>
          <p:cNvSpPr txBox="1"/>
          <p:nvPr/>
        </p:nvSpPr>
        <p:spPr>
          <a:xfrm>
            <a:off x="4220953" y="4869160"/>
            <a:ext cx="10903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 smtClean="0">
                <a:solidFill>
                  <a:srgbClr val="FF0000"/>
                </a:solidFill>
              </a:rPr>
              <a:t>この点をピーク</a:t>
            </a:r>
            <a:endParaRPr kumimoji="1" lang="en-US" altLang="ja-JP" sz="1100" dirty="0" smtClean="0">
              <a:solidFill>
                <a:srgbClr val="FF0000"/>
              </a:solidFill>
            </a:endParaRPr>
          </a:p>
          <a:p>
            <a:r>
              <a:rPr kumimoji="1" lang="ja-JP" altLang="en-US" sz="1100" dirty="0" smtClean="0">
                <a:solidFill>
                  <a:srgbClr val="FF0000"/>
                </a:solidFill>
              </a:rPr>
              <a:t>位置として同定</a:t>
            </a:r>
            <a:endParaRPr kumimoji="1" lang="ja-JP" altLang="en-US" sz="1100" dirty="0">
              <a:solidFill>
                <a:srgbClr val="FF0000"/>
              </a:solidFill>
            </a:endParaRP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993266" y="4798313"/>
            <a:ext cx="1459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 smtClean="0">
                <a:solidFill>
                  <a:srgbClr val="FF0000"/>
                </a:solidFill>
              </a:rPr>
              <a:t>ピーク高さ</a:t>
            </a:r>
            <a:endParaRPr kumimoji="1" lang="en-US" altLang="ja-JP" sz="1100" dirty="0" smtClean="0">
              <a:solidFill>
                <a:srgbClr val="FF0000"/>
              </a:solidFill>
            </a:endParaRPr>
          </a:p>
          <a:p>
            <a:r>
              <a:rPr lang="en-US" altLang="ja-JP" sz="1100" dirty="0" smtClean="0">
                <a:solidFill>
                  <a:srgbClr val="FF0000"/>
                </a:solidFill>
              </a:rPr>
              <a:t>X</a:t>
            </a:r>
            <a:r>
              <a:rPr lang="ja-JP" altLang="en-US" sz="1100" dirty="0" smtClean="0">
                <a:solidFill>
                  <a:srgbClr val="FF0000"/>
                </a:solidFill>
              </a:rPr>
              <a:t>近傍の</a:t>
            </a:r>
            <a:r>
              <a:rPr lang="en-US" altLang="ja-JP" sz="1100" dirty="0" smtClean="0">
                <a:solidFill>
                  <a:srgbClr val="FF0000"/>
                </a:solidFill>
              </a:rPr>
              <a:t>3</a:t>
            </a:r>
            <a:r>
              <a:rPr lang="ja-JP" altLang="en-US" sz="1100" dirty="0" smtClean="0">
                <a:solidFill>
                  <a:srgbClr val="FF0000"/>
                </a:solidFill>
              </a:rPr>
              <a:t>点の平均値</a:t>
            </a:r>
            <a:endParaRPr kumimoji="1" lang="ja-JP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30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355976" y="229290"/>
            <a:ext cx="470353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>
                <a:solidFill>
                  <a:srgbClr val="FF0000"/>
                </a:solidFill>
              </a:rPr>
              <a:t>※</a:t>
            </a:r>
            <a:r>
              <a:rPr kumimoji="1" lang="ja-JP" altLang="en-US" sz="1200" dirty="0" smtClean="0">
                <a:solidFill>
                  <a:srgbClr val="FF0000"/>
                </a:solidFill>
              </a:rPr>
              <a:t>注意：このﾁｪｯｸを入れないと（数字を入れただけでは）</a:t>
            </a:r>
            <a:endParaRPr kumimoji="1" lang="en-US" altLang="ja-JP" sz="1200" dirty="0" smtClean="0">
              <a:solidFill>
                <a:srgbClr val="FF0000"/>
              </a:solidFill>
            </a:endParaRPr>
          </a:p>
          <a:p>
            <a:r>
              <a:rPr lang="en-US" altLang="ja-JP" sz="1200" dirty="0">
                <a:solidFill>
                  <a:srgbClr val="FF0000"/>
                </a:solidFill>
              </a:rPr>
              <a:t> </a:t>
            </a:r>
            <a:r>
              <a:rPr lang="en-US" altLang="ja-JP" sz="1200" dirty="0" smtClean="0">
                <a:solidFill>
                  <a:srgbClr val="FF0000"/>
                </a:solidFill>
              </a:rPr>
              <a:t>   </a:t>
            </a:r>
            <a:r>
              <a:rPr kumimoji="1" lang="ja-JP" altLang="en-US" sz="1200" dirty="0" smtClean="0">
                <a:solidFill>
                  <a:srgbClr val="FF0000"/>
                </a:solidFill>
              </a:rPr>
              <a:t>有効になりません。ﾌｨﾙﾀを用いるさいは必ずﾁｪｯｸを入れてください。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54" y="1147274"/>
            <a:ext cx="5268903" cy="2723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ドーナツ 28"/>
          <p:cNvSpPr/>
          <p:nvPr/>
        </p:nvSpPr>
        <p:spPr>
          <a:xfrm>
            <a:off x="7173755" y="5085184"/>
            <a:ext cx="1102342" cy="1110757"/>
          </a:xfrm>
          <a:prstGeom prst="donut">
            <a:avLst>
              <a:gd name="adj" fmla="val 1140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6924805" y="5602936"/>
            <a:ext cx="1584176" cy="7920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 14"/>
          <p:cNvSpPr/>
          <p:nvPr/>
        </p:nvSpPr>
        <p:spPr>
          <a:xfrm>
            <a:off x="4884497" y="4786904"/>
            <a:ext cx="158496" cy="804672"/>
          </a:xfrm>
          <a:custGeom>
            <a:avLst/>
            <a:gdLst>
              <a:gd name="connsiteX0" fmla="*/ 85344 w 158496"/>
              <a:gd name="connsiteY0" fmla="*/ 804672 h 804672"/>
              <a:gd name="connsiteX1" fmla="*/ 158496 w 158496"/>
              <a:gd name="connsiteY1" fmla="*/ 0 h 804672"/>
              <a:gd name="connsiteX2" fmla="*/ 0 w 158496"/>
              <a:gd name="connsiteY2" fmla="*/ 24384 h 804672"/>
              <a:gd name="connsiteX3" fmla="*/ 85344 w 158496"/>
              <a:gd name="connsiteY3" fmla="*/ 804672 h 80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96" h="804672">
                <a:moveTo>
                  <a:pt x="85344" y="804672"/>
                </a:moveTo>
                <a:lnTo>
                  <a:pt x="158496" y="0"/>
                </a:lnTo>
                <a:lnTo>
                  <a:pt x="0" y="24384"/>
                </a:lnTo>
                <a:lnTo>
                  <a:pt x="85344" y="804672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145" y="796146"/>
            <a:ext cx="5312460" cy="2531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グループ化 11"/>
          <p:cNvGrpSpPr/>
          <p:nvPr/>
        </p:nvGrpSpPr>
        <p:grpSpPr>
          <a:xfrm>
            <a:off x="4171641" y="4797152"/>
            <a:ext cx="1584176" cy="1584176"/>
            <a:chOff x="4932040" y="4435944"/>
            <a:chExt cx="1584176" cy="1584176"/>
          </a:xfrm>
        </p:grpSpPr>
        <p:grpSp>
          <p:nvGrpSpPr>
            <p:cNvPr id="8" name="グループ化 7"/>
            <p:cNvGrpSpPr/>
            <p:nvPr/>
          </p:nvGrpSpPr>
          <p:grpSpPr>
            <a:xfrm>
              <a:off x="4932040" y="4435944"/>
              <a:ext cx="1584176" cy="1584176"/>
              <a:chOff x="3203848" y="4437112"/>
              <a:chExt cx="1584176" cy="1584176"/>
            </a:xfrm>
          </p:grpSpPr>
          <p:cxnSp>
            <p:nvCxnSpPr>
              <p:cNvPr id="7" name="直線コネクタ 6"/>
              <p:cNvCxnSpPr/>
              <p:nvPr/>
            </p:nvCxnSpPr>
            <p:spPr>
              <a:xfrm>
                <a:off x="3203848" y="5229200"/>
                <a:ext cx="158417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線コネクタ 8"/>
              <p:cNvCxnSpPr/>
              <p:nvPr/>
            </p:nvCxnSpPr>
            <p:spPr>
              <a:xfrm rot="5400000">
                <a:off x="3203848" y="5229200"/>
                <a:ext cx="158417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正方形/長方形 9"/>
            <p:cNvSpPr/>
            <p:nvPr/>
          </p:nvSpPr>
          <p:spPr>
            <a:xfrm>
              <a:off x="4932040" y="5228032"/>
              <a:ext cx="1584176" cy="792088"/>
            </a:xfrm>
            <a:prstGeom prst="rect">
              <a:avLst/>
            </a:prstGeom>
            <a:solidFill>
              <a:schemeClr val="bg1">
                <a:lumMod val="65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5129706" y="5470187"/>
              <a:ext cx="10310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 smtClean="0"/>
                <a:t>設定無効範囲</a:t>
              </a:r>
              <a:endParaRPr kumimoji="1" lang="ja-JP" altLang="en-US" sz="1100" dirty="0"/>
            </a:p>
          </p:txBody>
        </p:sp>
      </p:grpSp>
      <p:cxnSp>
        <p:nvCxnSpPr>
          <p:cNvPr id="14" name="直線コネクタ 13"/>
          <p:cNvCxnSpPr>
            <a:stCxn id="10" idx="0"/>
          </p:cNvCxnSpPr>
          <p:nvPr/>
        </p:nvCxnSpPr>
        <p:spPr>
          <a:xfrm flipV="1">
            <a:off x="4963729" y="4797152"/>
            <a:ext cx="72008" cy="7920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 flipH="1" flipV="1">
            <a:off x="4884832" y="4797152"/>
            <a:ext cx="72008" cy="7920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 flipV="1">
            <a:off x="5035737" y="4654304"/>
            <a:ext cx="364621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 flipV="1">
            <a:off x="4884497" y="4510288"/>
            <a:ext cx="33355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5400358" y="4552099"/>
            <a:ext cx="894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 smtClean="0"/>
              <a:t>START ANGLE</a:t>
            </a:r>
            <a:endParaRPr kumimoji="1" lang="ja-JP" altLang="en-US" sz="10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204679" y="4385540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 smtClean="0"/>
              <a:t>END</a:t>
            </a:r>
            <a:r>
              <a:rPr kumimoji="1" lang="en-US" altLang="ja-JP" sz="1000" dirty="0" smtClean="0"/>
              <a:t> ANGLE</a:t>
            </a:r>
            <a:endParaRPr kumimoji="1" lang="ja-JP" altLang="en-US" sz="100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606743" y="5574539"/>
            <a:ext cx="5084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 smtClean="0"/>
              <a:t>X</a:t>
            </a:r>
            <a:r>
              <a:rPr kumimoji="1" lang="ja-JP" altLang="en-US" sz="1000" dirty="0" smtClean="0"/>
              <a:t>次数</a:t>
            </a:r>
            <a:endParaRPr kumimoji="1" lang="ja-JP" altLang="en-US" sz="10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543921" y="4508650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Y</a:t>
            </a:r>
            <a:r>
              <a:rPr kumimoji="1" lang="ja-JP" altLang="en-US" sz="1000" dirty="0" smtClean="0"/>
              <a:t>次数</a:t>
            </a:r>
            <a:endParaRPr kumimoji="1" lang="ja-JP" altLang="en-US" sz="1000" dirty="0"/>
          </a:p>
        </p:txBody>
      </p:sp>
      <p:cxnSp>
        <p:nvCxnSpPr>
          <p:cNvPr id="26" name="直線コネクタ 25"/>
          <p:cNvCxnSpPr/>
          <p:nvPr/>
        </p:nvCxnSpPr>
        <p:spPr>
          <a:xfrm>
            <a:off x="4999733" y="5086352"/>
            <a:ext cx="60701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5555209" y="5013176"/>
            <a:ext cx="8643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 smtClean="0"/>
              <a:t>この範囲の</a:t>
            </a:r>
            <a:endParaRPr kumimoji="1" lang="en-US" altLang="ja-JP" sz="1000" dirty="0" smtClean="0"/>
          </a:p>
          <a:p>
            <a:r>
              <a:rPr kumimoji="1" lang="ja-JP" altLang="en-US" sz="1000" dirty="0" smtClean="0"/>
              <a:t>スペクトルが</a:t>
            </a:r>
            <a:endParaRPr kumimoji="1" lang="en-US" altLang="ja-JP" sz="1000" dirty="0" smtClean="0"/>
          </a:p>
          <a:p>
            <a:r>
              <a:rPr lang="ja-JP" altLang="en-US" sz="1000" dirty="0" smtClean="0"/>
              <a:t>削除</a:t>
            </a:r>
            <a:r>
              <a:rPr lang="ja-JP" altLang="en-US" sz="1000" dirty="0"/>
              <a:t>される</a:t>
            </a:r>
            <a:endParaRPr kumimoji="1" lang="ja-JP" altLang="en-US" sz="10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3916088" y="4207392"/>
            <a:ext cx="1301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①角度フィルタ</a:t>
            </a:r>
            <a:endParaRPr kumimoji="1" lang="ja-JP" altLang="en-US" sz="1400" dirty="0"/>
          </a:p>
        </p:txBody>
      </p:sp>
      <p:grpSp>
        <p:nvGrpSpPr>
          <p:cNvPr id="32" name="グループ化 31"/>
          <p:cNvGrpSpPr/>
          <p:nvPr/>
        </p:nvGrpSpPr>
        <p:grpSpPr>
          <a:xfrm>
            <a:off x="6924805" y="4810848"/>
            <a:ext cx="1584176" cy="1584176"/>
            <a:chOff x="3203848" y="4437112"/>
            <a:chExt cx="1584176" cy="1584176"/>
          </a:xfrm>
        </p:grpSpPr>
        <p:cxnSp>
          <p:nvCxnSpPr>
            <p:cNvPr id="35" name="直線コネクタ 34"/>
            <p:cNvCxnSpPr/>
            <p:nvPr/>
          </p:nvCxnSpPr>
          <p:spPr>
            <a:xfrm>
              <a:off x="3203848" y="5229200"/>
              <a:ext cx="15841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/>
            <p:cNvCxnSpPr/>
            <p:nvPr/>
          </p:nvCxnSpPr>
          <p:spPr>
            <a:xfrm rot="5400000">
              <a:off x="3203848" y="5229200"/>
              <a:ext cx="15841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テキスト ボックス 33"/>
          <p:cNvSpPr txBox="1"/>
          <p:nvPr/>
        </p:nvSpPr>
        <p:spPr>
          <a:xfrm>
            <a:off x="7122471" y="5845091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dirty="0" smtClean="0"/>
              <a:t>設定無効範囲</a:t>
            </a:r>
            <a:endParaRPr kumimoji="1" lang="ja-JP" altLang="en-US" sz="1100" dirty="0"/>
          </a:p>
        </p:txBody>
      </p:sp>
      <p:cxnSp>
        <p:nvCxnSpPr>
          <p:cNvPr id="39" name="直線コネクタ 38"/>
          <p:cNvCxnSpPr/>
          <p:nvPr/>
        </p:nvCxnSpPr>
        <p:spPr>
          <a:xfrm flipV="1">
            <a:off x="8153522" y="5185416"/>
            <a:ext cx="364621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V="1">
            <a:off x="7976416" y="4742665"/>
            <a:ext cx="33355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8276097" y="5051603"/>
            <a:ext cx="904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 smtClean="0"/>
              <a:t>START ORDER</a:t>
            </a:r>
            <a:endParaRPr kumimoji="1" lang="ja-JP" altLang="en-US" sz="1000" dirty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8112878" y="4533472"/>
            <a:ext cx="8018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 smtClean="0"/>
              <a:t>END</a:t>
            </a:r>
            <a:r>
              <a:rPr kumimoji="1" lang="en-US" altLang="ja-JP" sz="1000" dirty="0" smtClean="0"/>
              <a:t> ORDER</a:t>
            </a:r>
            <a:endParaRPr kumimoji="1" lang="ja-JP" altLang="en-US" sz="1000" dirty="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8359907" y="5588235"/>
            <a:ext cx="5084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 smtClean="0"/>
              <a:t>X</a:t>
            </a:r>
            <a:r>
              <a:rPr kumimoji="1" lang="ja-JP" altLang="en-US" sz="1000" dirty="0" smtClean="0"/>
              <a:t>次数</a:t>
            </a:r>
            <a:endParaRPr kumimoji="1" lang="ja-JP" altLang="en-US" sz="1000" dirty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7297085" y="4522346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Y</a:t>
            </a:r>
            <a:r>
              <a:rPr kumimoji="1" lang="ja-JP" altLang="en-US" sz="1000" dirty="0" smtClean="0"/>
              <a:t>次数</a:t>
            </a:r>
            <a:endParaRPr kumimoji="1" lang="ja-JP" altLang="en-US" sz="1000" dirty="0"/>
          </a:p>
        </p:txBody>
      </p:sp>
      <p:cxnSp>
        <p:nvCxnSpPr>
          <p:cNvPr id="45" name="直線コネクタ 44"/>
          <p:cNvCxnSpPr/>
          <p:nvPr/>
        </p:nvCxnSpPr>
        <p:spPr>
          <a:xfrm>
            <a:off x="7173755" y="5085184"/>
            <a:ext cx="303505" cy="109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/>
          <p:cNvSpPr txBox="1"/>
          <p:nvPr/>
        </p:nvSpPr>
        <p:spPr>
          <a:xfrm>
            <a:off x="6434578" y="4645457"/>
            <a:ext cx="8643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 smtClean="0"/>
              <a:t>この範囲の</a:t>
            </a:r>
            <a:endParaRPr kumimoji="1" lang="en-US" altLang="ja-JP" sz="1000" dirty="0" smtClean="0"/>
          </a:p>
          <a:p>
            <a:r>
              <a:rPr kumimoji="1" lang="ja-JP" altLang="en-US" sz="1000" dirty="0" smtClean="0"/>
              <a:t>スペクトルが</a:t>
            </a:r>
            <a:endParaRPr kumimoji="1" lang="en-US" altLang="ja-JP" sz="1000" dirty="0" smtClean="0"/>
          </a:p>
          <a:p>
            <a:r>
              <a:rPr lang="ja-JP" altLang="en-US" sz="1000" dirty="0" smtClean="0"/>
              <a:t>削除</a:t>
            </a:r>
            <a:r>
              <a:rPr lang="ja-JP" altLang="en-US" sz="1000" dirty="0"/>
              <a:t>される</a:t>
            </a:r>
            <a:endParaRPr kumimoji="1" lang="ja-JP" altLang="en-US" sz="1000" dirty="0"/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6669252" y="4221088"/>
            <a:ext cx="1301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②半径</a:t>
            </a:r>
            <a:r>
              <a:rPr kumimoji="1" lang="ja-JP" altLang="en-US" sz="1400" dirty="0" smtClean="0"/>
              <a:t>フィルタ</a:t>
            </a:r>
            <a:endParaRPr kumimoji="1" lang="ja-JP" altLang="en-US" sz="1400" dirty="0"/>
          </a:p>
        </p:txBody>
      </p:sp>
      <p:sp>
        <p:nvSpPr>
          <p:cNvPr id="51" name="角丸四角形 50"/>
          <p:cNvSpPr/>
          <p:nvPr/>
        </p:nvSpPr>
        <p:spPr>
          <a:xfrm>
            <a:off x="2197504" y="1880506"/>
            <a:ext cx="960223" cy="3628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2136767" y="2247255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 smtClean="0">
                <a:solidFill>
                  <a:srgbClr val="FF0000"/>
                </a:solidFill>
              </a:rPr>
              <a:t>スペクトルフィルタ</a:t>
            </a:r>
            <a:endParaRPr kumimoji="1" lang="en-US" altLang="ja-JP" sz="1200" dirty="0" smtClean="0">
              <a:solidFill>
                <a:srgbClr val="FF0000"/>
              </a:solidFill>
            </a:endParaRPr>
          </a:p>
          <a:p>
            <a:r>
              <a:rPr kumimoji="1" lang="ja-JP" altLang="en-US" sz="1200" dirty="0" smtClean="0">
                <a:solidFill>
                  <a:srgbClr val="FF0000"/>
                </a:solidFill>
              </a:rPr>
              <a:t>を用いた処理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251520" y="44624"/>
            <a:ext cx="3241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スペクトル</a:t>
            </a:r>
            <a:r>
              <a:rPr lang="ja-JP" altLang="en-US" dirty="0"/>
              <a:t>フィルタ</a:t>
            </a:r>
            <a:r>
              <a:rPr lang="ja-JP" altLang="en-US" dirty="0" smtClean="0"/>
              <a:t>を用いた処理</a:t>
            </a:r>
            <a:endParaRPr kumimoji="1" lang="ja-JP" altLang="en-US" dirty="0"/>
          </a:p>
        </p:txBody>
      </p:sp>
      <p:sp>
        <p:nvSpPr>
          <p:cNvPr id="53" name="円/楕円 52"/>
          <p:cNvSpPr/>
          <p:nvPr/>
        </p:nvSpPr>
        <p:spPr>
          <a:xfrm>
            <a:off x="4049586" y="1814697"/>
            <a:ext cx="426446" cy="1814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5" name="直線コネクタ 54"/>
          <p:cNvCxnSpPr/>
          <p:nvPr/>
        </p:nvCxnSpPr>
        <p:spPr>
          <a:xfrm flipH="1">
            <a:off x="3388989" y="1936786"/>
            <a:ext cx="701722" cy="11448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/>
          <p:cNvSpPr txBox="1"/>
          <p:nvPr/>
        </p:nvSpPr>
        <p:spPr>
          <a:xfrm>
            <a:off x="2058933" y="2912189"/>
            <a:ext cx="2081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 smtClean="0">
                <a:solidFill>
                  <a:srgbClr val="FF0000"/>
                </a:solidFill>
              </a:rPr>
              <a:t>ここをチェックすると</a:t>
            </a:r>
            <a:endParaRPr kumimoji="1" lang="en-US" altLang="ja-JP" sz="1200" dirty="0" smtClean="0">
              <a:solidFill>
                <a:srgbClr val="FF0000"/>
              </a:solidFill>
            </a:endParaRPr>
          </a:p>
          <a:p>
            <a:r>
              <a:rPr lang="ja-JP" altLang="en-US" sz="1200" dirty="0" smtClean="0">
                <a:solidFill>
                  <a:srgbClr val="FF0000"/>
                </a:solidFill>
              </a:rPr>
              <a:t>①、②の</a:t>
            </a:r>
            <a:r>
              <a:rPr lang="en-US" altLang="ja-JP" sz="1200" dirty="0" smtClean="0">
                <a:solidFill>
                  <a:srgbClr val="FF0000"/>
                </a:solidFill>
              </a:rPr>
              <a:t>AND</a:t>
            </a:r>
            <a:r>
              <a:rPr lang="ja-JP" altLang="en-US" sz="1200" dirty="0" smtClean="0">
                <a:solidFill>
                  <a:srgbClr val="FF0000"/>
                </a:solidFill>
              </a:rPr>
              <a:t>をとる</a:t>
            </a:r>
            <a:endParaRPr lang="en-US" altLang="ja-JP" sz="1200" dirty="0" smtClean="0">
              <a:solidFill>
                <a:srgbClr val="FF0000"/>
              </a:solidFill>
            </a:endParaRPr>
          </a:p>
          <a:p>
            <a:r>
              <a:rPr kumimoji="1" lang="ja-JP" altLang="en-US" sz="1200" dirty="0">
                <a:solidFill>
                  <a:srgbClr val="FF0000"/>
                </a:solidFill>
              </a:rPr>
              <a:t>こと</a:t>
            </a:r>
            <a:r>
              <a:rPr kumimoji="1" lang="ja-JP" altLang="en-US" sz="1200" dirty="0" smtClean="0">
                <a:solidFill>
                  <a:srgbClr val="FF0000"/>
                </a:solidFill>
              </a:rPr>
              <a:t>ができる</a:t>
            </a:r>
            <a:endParaRPr kumimoji="1" lang="en-US" altLang="ja-JP" sz="1200" dirty="0" smtClean="0">
              <a:solidFill>
                <a:srgbClr val="FF0000"/>
              </a:solidFill>
            </a:endParaRPr>
          </a:p>
          <a:p>
            <a:r>
              <a:rPr lang="ja-JP" altLang="en-US" sz="1200" dirty="0" smtClean="0">
                <a:solidFill>
                  <a:srgbClr val="FF0000"/>
                </a:solidFill>
              </a:rPr>
              <a:t>（ﾁｪｯｸしない</a:t>
            </a:r>
            <a:r>
              <a:rPr lang="ja-JP" altLang="en-US" sz="1200" dirty="0">
                <a:solidFill>
                  <a:srgbClr val="FF0000"/>
                </a:solidFill>
              </a:rPr>
              <a:t>場合</a:t>
            </a:r>
            <a:r>
              <a:rPr lang="ja-JP" altLang="en-US" sz="1200" dirty="0" smtClean="0">
                <a:solidFill>
                  <a:srgbClr val="FF0000"/>
                </a:solidFill>
              </a:rPr>
              <a:t>は</a:t>
            </a:r>
            <a:r>
              <a:rPr lang="en-US" altLang="ja-JP" sz="1200" dirty="0" smtClean="0">
                <a:solidFill>
                  <a:srgbClr val="FF0000"/>
                </a:solidFill>
              </a:rPr>
              <a:t>or</a:t>
            </a:r>
            <a:r>
              <a:rPr lang="ja-JP" altLang="en-US" sz="1200" dirty="0" smtClean="0">
                <a:solidFill>
                  <a:srgbClr val="FF0000"/>
                </a:solidFill>
              </a:rPr>
              <a:t>になる）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395536" y="404664"/>
            <a:ext cx="29995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角度と半径の</a:t>
            </a:r>
            <a:r>
              <a:rPr lang="en-US" altLang="ja-JP" sz="1400" dirty="0" smtClean="0"/>
              <a:t>2</a:t>
            </a:r>
            <a:r>
              <a:rPr lang="ja-JP" altLang="en-US" sz="1400" dirty="0" err="1" smtClean="0"/>
              <a:t>つの</a:t>
            </a:r>
            <a:r>
              <a:rPr lang="ja-JP" altLang="en-US" sz="1400" dirty="0" smtClean="0"/>
              <a:t>フィルタ</a:t>
            </a:r>
            <a:endParaRPr lang="en-US" altLang="ja-JP" sz="1400" dirty="0" smtClean="0"/>
          </a:p>
          <a:p>
            <a:r>
              <a:rPr kumimoji="1" lang="ja-JP" altLang="en-US" sz="1400" dirty="0" smtClean="0"/>
              <a:t>各々３範囲指定可能</a:t>
            </a:r>
            <a:endParaRPr kumimoji="1" lang="en-US" altLang="ja-JP" sz="1400" dirty="0" smtClean="0"/>
          </a:p>
          <a:p>
            <a:r>
              <a:rPr lang="ja-JP" altLang="en-US" sz="1400" dirty="0"/>
              <a:t>指定</a:t>
            </a:r>
            <a:r>
              <a:rPr lang="ja-JP" altLang="en-US" sz="1400" dirty="0" smtClean="0"/>
              <a:t>した範囲のスペクトルを削除する</a:t>
            </a:r>
            <a:endParaRPr kumimoji="1" lang="ja-JP" altLang="en-US" sz="1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6" y="4715991"/>
            <a:ext cx="18002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9" name="直線コネクタ 58"/>
          <p:cNvCxnSpPr/>
          <p:nvPr/>
        </p:nvCxnSpPr>
        <p:spPr>
          <a:xfrm>
            <a:off x="1345647" y="4812040"/>
            <a:ext cx="7331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1777695" y="4671848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 smtClean="0"/>
              <a:t>表面性状波形の</a:t>
            </a:r>
            <a:r>
              <a:rPr lang="ja-JP" altLang="en-US" sz="1200" dirty="0"/>
              <a:t>生成</a:t>
            </a:r>
            <a:endParaRPr kumimoji="1" lang="ja-JP" altLang="en-US" sz="1200" dirty="0"/>
          </a:p>
        </p:txBody>
      </p:sp>
      <p:cxnSp>
        <p:nvCxnSpPr>
          <p:cNvPr id="64" name="直線コネクタ 63"/>
          <p:cNvCxnSpPr/>
          <p:nvPr/>
        </p:nvCxnSpPr>
        <p:spPr>
          <a:xfrm>
            <a:off x="1712206" y="5044603"/>
            <a:ext cx="7331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/>
          <p:cNvSpPr txBox="1"/>
          <p:nvPr/>
        </p:nvSpPr>
        <p:spPr>
          <a:xfrm>
            <a:off x="1777695" y="4898905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 smtClean="0"/>
              <a:t>ﾌｨﾙﾀを通したｽﾍﾟｸﾄﾙ生成</a:t>
            </a:r>
            <a:endParaRPr kumimoji="1" lang="ja-JP" altLang="en-US" sz="1200" dirty="0"/>
          </a:p>
        </p:txBody>
      </p:sp>
      <p:cxnSp>
        <p:nvCxnSpPr>
          <p:cNvPr id="66" name="直線コネクタ 65"/>
          <p:cNvCxnSpPr/>
          <p:nvPr/>
        </p:nvCxnSpPr>
        <p:spPr>
          <a:xfrm>
            <a:off x="1498047" y="5229200"/>
            <a:ext cx="7331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1834030" y="5151675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 smtClean="0"/>
              <a:t>ﾌｨﾙﾀを通したｽﾍﾟｸﾄﾙ</a:t>
            </a:r>
            <a:r>
              <a:rPr lang="ja-JP" altLang="en-US" sz="1200" dirty="0"/>
              <a:t>で</a:t>
            </a:r>
            <a:r>
              <a:rPr lang="ja-JP" altLang="en-US" sz="1200" dirty="0" smtClean="0"/>
              <a:t>の</a:t>
            </a:r>
            <a:endParaRPr lang="en-US" altLang="ja-JP" sz="1200" dirty="0" smtClean="0"/>
          </a:p>
          <a:p>
            <a:r>
              <a:rPr kumimoji="1" lang="ja-JP" altLang="en-US" sz="1200" dirty="0" smtClean="0"/>
              <a:t>ピーク同定</a:t>
            </a:r>
            <a:endParaRPr kumimoji="1" lang="ja-JP" altLang="en-US" sz="1200" dirty="0"/>
          </a:p>
        </p:txBody>
      </p:sp>
      <p:sp>
        <p:nvSpPr>
          <p:cNvPr id="54" name="円/楕円 53"/>
          <p:cNvSpPr/>
          <p:nvPr/>
        </p:nvSpPr>
        <p:spPr>
          <a:xfrm>
            <a:off x="3997260" y="1147274"/>
            <a:ext cx="372047" cy="265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/>
          <p:cNvCxnSpPr/>
          <p:nvPr/>
        </p:nvCxnSpPr>
        <p:spPr>
          <a:xfrm flipV="1">
            <a:off x="4211960" y="413956"/>
            <a:ext cx="329186" cy="772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08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573</Words>
  <Application>Microsoft Office PowerPoint</Application>
  <PresentationFormat>画面に合わせる (4:3)</PresentationFormat>
  <Paragraphs>126</Paragraphs>
  <Slides>5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Kazuhisa Ishiduka (石塚 和久)</dc:creator>
  <cp:lastModifiedBy>setup</cp:lastModifiedBy>
  <cp:revision>17</cp:revision>
  <dcterms:created xsi:type="dcterms:W3CDTF">2018-03-07T03:46:17Z</dcterms:created>
  <dcterms:modified xsi:type="dcterms:W3CDTF">2018-03-12T00:42:34Z</dcterms:modified>
</cp:coreProperties>
</file>